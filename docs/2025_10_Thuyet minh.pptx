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26" r:id="rId2"/>
    <p:sldId id="527" r:id="rId3"/>
    <p:sldId id="603" r:id="rId4"/>
    <p:sldId id="604" r:id="rId5"/>
    <p:sldId id="608" r:id="rId6"/>
    <p:sldId id="609" r:id="rId7"/>
    <p:sldId id="610" r:id="rId8"/>
    <p:sldId id="611" r:id="rId9"/>
    <p:sldId id="612" r:id="rId10"/>
    <p:sldId id="613" r:id="rId11"/>
    <p:sldId id="605" r:id="rId12"/>
    <p:sldId id="607" r:id="rId13"/>
    <p:sldId id="302" r:id="rId14"/>
    <p:sldId id="288" r:id="rId1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A3F2E0-0454-4FC3-8FAC-BDA67FD5E36A}">
          <p14:sldIdLst>
            <p14:sldId id="526"/>
            <p14:sldId id="527"/>
            <p14:sldId id="603"/>
            <p14:sldId id="604"/>
            <p14:sldId id="608"/>
            <p14:sldId id="609"/>
            <p14:sldId id="610"/>
            <p14:sldId id="611"/>
            <p14:sldId id="612"/>
            <p14:sldId id="613"/>
            <p14:sldId id="605"/>
            <p14:sldId id="607"/>
            <p14:sldId id="302"/>
            <p14:sldId id="288"/>
          </p14:sldIdLst>
        </p14:section>
        <p14:section name="Untitled Section" id="{7D70AD50-24B2-42E0-A60A-EF8E96BBEDD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CC"/>
    <a:srgbClr val="1E417A"/>
    <a:srgbClr val="1E41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95806" autoAdjust="0"/>
  </p:normalViewPr>
  <p:slideViewPr>
    <p:cSldViewPr snapToGrid="0">
      <p:cViewPr>
        <p:scale>
          <a:sx n="100" d="100"/>
          <a:sy n="100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5CBCE-4909-4D53-B738-682D54A78E95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3466B-7CE8-46C2-9E58-3BC08954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0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3466B-7CE8-46C2-9E58-3BC0895485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60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73466B-7CE8-46C2-9E58-3BC0895485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5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F62C-C367-D5DC-7C8B-E04E74B26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192E0-D62B-7286-05FC-FDBF87C34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36B62-DEE6-3F52-879B-EFCEF3077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https://www.anyscale.com/blog/a-comprehensive-guide-for-building-rag-based-llm-applications-part-1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F5A00-51DD-813D-B2BC-08C9A8520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A5E9-BAEE-4EBF-B799-44EE9FD17D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1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B5C9-301D-4919-9D5C-5248A8B6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DE8B9-D0E9-496F-BDDA-FC90AAA99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3E8D5-A5BF-4ADF-93A6-3F83D748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746FAB-30E3-4943-A8F1-6B4F03D1AEF8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8B955-47F2-4FFF-91AF-AC96B3A1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D08ED-6F73-40A6-A507-5BBE8640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0ACC793-D879-4A72-AB4C-25BC676A92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4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3A8A-8D9D-4979-993C-53F1B4FE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960"/>
            <a:ext cx="10515600" cy="58507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362F5-1DB2-428B-B5B8-4D646E42F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" y="958157"/>
            <a:ext cx="11747863" cy="52188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/>
            </a:lvl1pPr>
            <a:lvl2pPr>
              <a:lnSpc>
                <a:spcPct val="100000"/>
              </a:lnSpc>
              <a:spcAft>
                <a:spcPts val="0"/>
              </a:spcAft>
              <a:defRPr sz="2000"/>
            </a:lvl2pPr>
            <a:lvl3pPr>
              <a:lnSpc>
                <a:spcPct val="100000"/>
              </a:lnSpc>
              <a:spcAft>
                <a:spcPts val="0"/>
              </a:spcAft>
              <a:defRPr sz="1800"/>
            </a:lvl3pPr>
            <a:lvl4pPr>
              <a:lnSpc>
                <a:spcPct val="100000"/>
              </a:lnSpc>
              <a:spcAft>
                <a:spcPts val="0"/>
              </a:spcAft>
              <a:defRPr sz="1600"/>
            </a:lvl4pPr>
            <a:lvl5pPr>
              <a:lnSpc>
                <a:spcPct val="100000"/>
              </a:lnSpc>
              <a:spcAft>
                <a:spcPts val="0"/>
              </a:spcAft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FCAA0-5975-46CB-9C63-E26AB420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191A-1250-4FED-B907-13BF015DA33E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ABA25-2A02-4266-9045-3C7B7C51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98991-4A8D-4634-9312-B807C089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b="1"/>
            </a:lvl1pPr>
          </a:lstStyle>
          <a:p>
            <a:fld id="{00ACC793-D879-4A72-AB4C-25BC676A92D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CC7FE6-4FCF-42F0-A1DB-065779BAC05D}"/>
              </a:ext>
            </a:extLst>
          </p:cNvPr>
          <p:cNvCxnSpPr>
            <a:cxnSpLocks/>
          </p:cNvCxnSpPr>
          <p:nvPr userDrawn="1"/>
        </p:nvCxnSpPr>
        <p:spPr>
          <a:xfrm>
            <a:off x="838200" y="819597"/>
            <a:ext cx="10515600" cy="0"/>
          </a:xfrm>
          <a:prstGeom prst="line">
            <a:avLst/>
          </a:prstGeom>
          <a:ln w="635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6F1000-6203-411C-9028-8865CCD61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697" y="0"/>
            <a:ext cx="122533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86EA3E-64CA-4F40-B76E-1133EDAF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01561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7ADCA-C90E-4A65-92A3-4F9F181B2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E0DB4-DBDD-4AB9-AE0C-AAEB0A49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AEF-206C-4F5B-A1F6-2D22E6C5C3BD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D614-E3E3-43C1-9DE0-34347C5B9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0A16-D5FC-4F85-B872-8C4D658D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7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B804-CA0E-4715-91B8-DDF66053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0F71-26EF-4D7B-8C87-175439B55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29A36-E0B8-4296-B0C9-D3EE5AC8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3504B-391D-4FDF-8408-A4027FD5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188E9-BBCE-490A-B3A9-0DF03A673B2C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D6EAE-478E-46C1-8D07-786C3B02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B8A9-1B47-4AF2-BAC4-B3763A98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7C04-3EC7-4F28-BAE1-12130B26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093D9-2164-4A1E-9415-4BAC628CA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E527-0210-4543-8E5C-42B123E16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FA22B-BC9B-47EC-A1D0-B0E1DC6B7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8F29D-DEFE-414D-AD15-057C51B46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68581-1AB5-4C6F-8D71-7794B06C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4F1B-5B60-468B-B93B-0301C8236505}" type="datetime1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83992-B31F-4912-82A2-8E1DEF45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CBF83-0FF1-4889-AB27-690DC066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0004-8048-4C25-B8F8-07A1730E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502E0-656B-43CE-AF5A-A3132CD3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1174-A5C8-42C7-9D7B-03B4EAF4D250}" type="datetime1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616CD-5B81-458E-91A9-A1975C07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40430-B88B-4F73-B297-503DF656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7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7925E-9708-47A3-94C4-3F053024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A47E-24BF-478F-A863-26EB3E07BF12}" type="datetime1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F5E50-9313-497F-A267-821357BF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A3E51-50A3-4C6F-A9BF-32202648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9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5EBA-46CC-4A78-B228-0601DE9A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63413-CE29-43E4-A9EB-42BA54B85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B35C0-8A0F-42CC-A17F-CE582A8F0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63230-2E2C-4193-8506-001A379F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E2E5-0CDC-4E8D-9650-C6A80C0F0749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22E08-7A49-4A08-88CC-E41689EB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F7731-A4D0-4938-9C20-1FA45709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8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8E41-6A7E-4C64-A319-1A66F654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862E6-3922-4311-BD1F-451F2FCB9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B1D84-9142-41F9-8D5F-5D9039969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0923D-7849-4755-9284-D6C65F54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1B04-62F4-428D-8495-48D833BAA765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5D7E-22DA-4C50-88A9-63C012C5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9F8DE-F403-4FBF-A2D7-4847A719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32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7DD6-F34B-409E-9125-2DBD744A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5934E-7AB0-4C7E-8D53-05FCA35EC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36B1-D34C-4440-A89A-305ADD8A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ADD9-BEE9-4105-9FB7-9C16AC5C0A59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BC98-D8EA-4803-A719-55D9CF46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B864E-D7B6-492E-82C7-2F1227E6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5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D1962-2E48-403D-ACD9-D5545245D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287F1-ED5A-41B1-9A4D-3B95B1674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BB8A-263D-4D43-9935-BC513E69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E3F5-3E86-4CFD-9953-0A7D8C890B1C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654BA-B24F-4F51-9B74-CD7340D2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A243-F794-45F7-9B94-759FBF24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3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85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D08FA-C501-480C-A5A2-197C2D36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1B535-2F2E-4AF5-B9E0-F9F09963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26374-5C98-4A98-B6DD-2D5769233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E5CD06-DFAB-4289-914F-1666792E8AEF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48147-6C3C-4929-B440-8EC20F2DF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CC3B8-56E5-4409-B161-830C99F4C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0ACC793-D879-4A72-AB4C-25BC676A92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8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459812-8428-13B2-8536-F88E43CBD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99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20AEC0-4960-4BF3-9A72-1C30D7848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5" y="816757"/>
            <a:ext cx="6027820" cy="2227232"/>
          </a:xfrm>
        </p:spPr>
        <p:txBody>
          <a:bodyPr>
            <a:noAutofit/>
          </a:bodyPr>
          <a:lstStyle/>
          <a:p>
            <a:r>
              <a:rPr lang="en-US" sz="4000" b="1"/>
              <a:t>NGHIÊN CỨU ỨNG DỤNG AI HỖ TRỢ TỰ ĐỘNG DỊCH VÀ TỔNG THUẬT HỌC LIỆU SỐ</a:t>
            </a:r>
            <a:endParaRPr 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7222-3D54-430F-B291-7B276E48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BE2E60-0D1A-4CBF-A84F-CD0B093CAD0A}"/>
              </a:ext>
            </a:extLst>
          </p:cNvPr>
          <p:cNvSpPr txBox="1">
            <a:spLocks/>
          </p:cNvSpPr>
          <p:nvPr/>
        </p:nvSpPr>
        <p:spPr>
          <a:xfrm>
            <a:off x="850965" y="4627743"/>
            <a:ext cx="10182065" cy="1276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>
                <a:latin typeface="+mn-lt"/>
              </a:rPr>
              <a:t>Chủ nhiệm:   TS. Phan Việt Anh</a:t>
            </a:r>
          </a:p>
          <a:p>
            <a:pPr marL="1876425" algn="l"/>
            <a:r>
              <a:rPr lang="en-US" sz="2000">
                <a:latin typeface="+mn-lt"/>
              </a:rPr>
              <a:t>Viện CNTT&amp;TT – Học viện KTQS</a:t>
            </a:r>
          </a:p>
        </p:txBody>
      </p:sp>
    </p:spTree>
    <p:extLst>
      <p:ext uri="{BB962C8B-B14F-4D97-AF65-F5344CB8AC3E}">
        <p14:creationId xmlns:p14="http://schemas.microsoft.com/office/powerpoint/2010/main" val="291381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318A-10DB-4680-9913-0F62BE0D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CB43-D177-4D6E-AF18-574ECF170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589"/>
            <a:ext cx="10515600" cy="5190373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070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Mục tiêu</a:t>
            </a:r>
          </a:p>
          <a:p>
            <a:pPr marL="457200" lvl="0" indent="-457200" algn="just">
              <a:lnSpc>
                <a:spcPct val="1070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Nội dung nghiên cứu</a:t>
            </a:r>
          </a:p>
          <a:p>
            <a:pPr marL="457200" lvl="0" indent="-457200" algn="just">
              <a:lnSpc>
                <a:spcPct val="1070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Sản phẩm đề tài</a:t>
            </a:r>
          </a:p>
          <a:p>
            <a:pPr marL="457200" lvl="0" indent="-457200" algn="just">
              <a:lnSpc>
                <a:spcPct val="1070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Tiến độ thực hiện</a:t>
            </a:r>
          </a:p>
          <a:p>
            <a:pPr marL="457200" lvl="0" indent="-457200" algn="just">
              <a:lnSpc>
                <a:spcPct val="1070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Kinh phí</a:t>
            </a:r>
            <a:endParaRPr lang="vi-VN" sz="200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BA303-CA6C-4D02-AF47-83D0FABB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6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108D-E317-7663-9032-92BF1983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/>
                </a:solidFill>
                <a:ea typeface="Times New Roman" panose="02020603050405020304" pitchFamily="18" charset="0"/>
              </a:rPr>
              <a:t>1. Mục tiêu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10BD4-4C07-CA5C-B399-32E2D427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vi-VN" sz="2800"/>
              <a:t>Phát triển một hệ thống ứng dụng trí tuệ nhân tạo số hóa và tổng thuật học liệu.</a:t>
            </a:r>
            <a:endParaRPr lang="en-US" sz="280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vi-VN" sz="2800"/>
              <a:t>Hệ thống có khả năng</a:t>
            </a:r>
            <a:endParaRPr lang="en-US" sz="280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400"/>
              <a:t>S</a:t>
            </a:r>
            <a:r>
              <a:rPr lang="vi-VN" sz="2400"/>
              <a:t>ố hóa</a:t>
            </a:r>
            <a:endParaRPr lang="en-US" sz="240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400"/>
              <a:t>D</a:t>
            </a:r>
            <a:r>
              <a:rPr lang="vi-VN" sz="2400"/>
              <a:t>ịch đa ngôn ngữ</a:t>
            </a:r>
            <a:endParaRPr lang="en-US" sz="240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400"/>
              <a:t>T</a:t>
            </a:r>
            <a:r>
              <a:rPr lang="vi-VN" sz="2400"/>
              <a:t>rích xuất thông tin quan trọng</a:t>
            </a:r>
            <a:endParaRPr lang="en-US" sz="240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200"/>
              <a:t>T</a:t>
            </a:r>
            <a:r>
              <a:rPr lang="vi-VN" sz="2200"/>
              <a:t>óm tắt ngắn gọn</a:t>
            </a:r>
            <a:endParaRPr lang="en-US" sz="220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200"/>
              <a:t>N</a:t>
            </a:r>
            <a:r>
              <a:rPr lang="vi-VN" sz="2200"/>
              <a:t>ội dung chính</a:t>
            </a:r>
            <a:endParaRPr lang="en-US" sz="220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200"/>
              <a:t>X</a:t>
            </a:r>
            <a:r>
              <a:rPr lang="vi-VN" sz="2200"/>
              <a:t>ác định từ khóa</a:t>
            </a:r>
            <a:endParaRPr lang="en-US" sz="220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200"/>
              <a:t>...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400"/>
              <a:t>T</a:t>
            </a:r>
            <a:r>
              <a:rPr lang="vi-VN" sz="2400"/>
              <a:t>ích hợp với hệ thống quản lý thư viện điện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D22D3-D0C9-0092-AD35-E48D12F8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AD7EB-D83E-388F-0429-285F3A18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220D-EBAD-FBFC-1566-A19D141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/>
                </a:solidFill>
              </a:rPr>
              <a:t>2. Nội dung nghiên cứu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E7328-719A-177B-F885-0326AC6D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65744-2A71-F059-2F7E-5CAC77EF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73" y="1001614"/>
            <a:ext cx="9542212" cy="48547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FA6E2-4959-D47C-F9E2-7DE6A2D6DB79}"/>
              </a:ext>
            </a:extLst>
          </p:cNvPr>
          <p:cNvSpPr txBox="1"/>
          <p:nvPr/>
        </p:nvSpPr>
        <p:spPr>
          <a:xfrm>
            <a:off x="3275597" y="5979023"/>
            <a:ext cx="6093994" cy="395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1800" i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 1 Kiến trúc các thành phần của hệ thống</a:t>
            </a:r>
            <a:endParaRPr lang="en-US" sz="1600">
              <a:effectLst/>
              <a:latin typeface=".VnTime" panose="020B7200000000000000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14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0D2C-79C2-A8EE-6D41-49B51ACF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Tải &amp; quản lý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AF4D-FCCF-F195-837B-326D653B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Thực hiện: </a:t>
            </a:r>
            <a:r>
              <a:rPr lang="vi-VN" sz="2800"/>
              <a:t>Nhân viên thư viện</a:t>
            </a:r>
            <a:endParaRPr lang="en-US" sz="2800"/>
          </a:p>
          <a:p>
            <a:r>
              <a:rPr lang="en-US" sz="2800"/>
              <a:t>Định dạng: </a:t>
            </a:r>
            <a:r>
              <a:rPr lang="vi-VN" sz="2800"/>
              <a:t>PDF</a:t>
            </a:r>
            <a:r>
              <a:rPr lang="en-US" sz="2800"/>
              <a:t> (bản scan/text)</a:t>
            </a:r>
            <a:r>
              <a:rPr lang="vi-VN" sz="2800"/>
              <a:t>, Word</a:t>
            </a:r>
            <a:endParaRPr lang="en-US" sz="2800"/>
          </a:p>
          <a:p>
            <a:r>
              <a:rPr lang="en-US" sz="2800"/>
              <a:t>Nếu pdf dạng scan</a:t>
            </a:r>
          </a:p>
          <a:p>
            <a:pPr lvl="1"/>
            <a:r>
              <a:rPr lang="en-US" sz="2400"/>
              <a:t>N</a:t>
            </a:r>
            <a:r>
              <a:rPr lang="vi-VN" sz="2400"/>
              <a:t>hận dạng ký tự quang học (OCR)</a:t>
            </a:r>
            <a:r>
              <a:rPr lang="en-US" sz="2400"/>
              <a:t>: C</a:t>
            </a:r>
            <a:r>
              <a:rPr lang="vi-VN" sz="2400"/>
              <a:t>huyển đổi thành văn bản có thể xử lý.</a:t>
            </a:r>
            <a:endParaRPr lang="en-US" sz="2400"/>
          </a:p>
          <a:p>
            <a:pPr lvl="1"/>
            <a:r>
              <a:rPr lang="en-US" sz="2400"/>
              <a:t>C</a:t>
            </a:r>
            <a:r>
              <a:rPr lang="vi-VN" sz="2400"/>
              <a:t>huẩn hóa nhằm loại bỏ các ký tự đặc biệt</a:t>
            </a:r>
            <a:endParaRPr lang="en-US" sz="2400"/>
          </a:p>
          <a:p>
            <a:pPr lvl="1"/>
            <a:r>
              <a:rPr lang="en-US" sz="2400"/>
              <a:t>Chỉ trích xuất nội dung văn bản (bỏ qua hình ảnh)</a:t>
            </a:r>
          </a:p>
          <a:p>
            <a:r>
              <a:rPr lang="en-US" sz="2800"/>
              <a:t>Lưu trữ file gốc + file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5C297-21CD-D2AB-0E89-70BD4F9E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1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5511-1EC3-7971-054B-06D9FA3A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Nhận dạng ký tự quang học (OCR)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32B0B-A9E7-2819-87D5-5E5F15E4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2" y="958157"/>
            <a:ext cx="4408256" cy="5218805"/>
          </a:xfrm>
        </p:spPr>
        <p:txBody>
          <a:bodyPr/>
          <a:lstStyle/>
          <a:p>
            <a:r>
              <a:rPr lang="en-US"/>
              <a:t>OCR đa ngôn ngữ: Anh, Nga, Trung, Việt</a:t>
            </a:r>
          </a:p>
          <a:p>
            <a:r>
              <a:rPr lang="en-US"/>
              <a:t>Khảo sát lựa chọn một số nền tảng</a:t>
            </a:r>
          </a:p>
          <a:p>
            <a:pPr lvl="1"/>
            <a:r>
              <a:rPr lang="en-US"/>
              <a:t>PaddleOCR</a:t>
            </a:r>
          </a:p>
          <a:p>
            <a:pPr lvl="1"/>
            <a:r>
              <a:rPr lang="en-US"/>
              <a:t>VinternOCR</a:t>
            </a:r>
          </a:p>
          <a:p>
            <a:pPr lvl="1"/>
            <a:r>
              <a:rPr lang="en-US"/>
              <a:t>Nhóm tự xây dựng</a:t>
            </a:r>
          </a:p>
          <a:p>
            <a:r>
              <a:rPr lang="en-US"/>
              <a:t>Kiểm định chất lượng</a:t>
            </a:r>
          </a:p>
          <a:p>
            <a:r>
              <a:rPr lang="en-US"/>
              <a:t>Triển khai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C7DBB-E23B-D2E3-B4DB-14895353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59F00-D50B-06D8-C16B-B54B7D17F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069" y="1614265"/>
            <a:ext cx="7467885" cy="39065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E21A96-276E-CC5B-BCDB-037CBE93EA8B}"/>
              </a:ext>
            </a:extLst>
          </p:cNvPr>
          <p:cNvSpPr txBox="1"/>
          <p:nvPr/>
        </p:nvSpPr>
        <p:spPr>
          <a:xfrm>
            <a:off x="5263014" y="5402094"/>
            <a:ext cx="6093994" cy="395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1800" i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 2 Quy trình xử lý của mô đun OCR</a:t>
            </a:r>
            <a:endParaRPr lang="en-US" sz="1600">
              <a:effectLst/>
              <a:latin typeface=".VnTime" panose="020B7200000000000000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02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C9CE09E-9AE3-1353-F0D6-5E5BBEBE8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396" y="2614123"/>
            <a:ext cx="4839375" cy="2162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05B9-2C50-5BD9-E8FA-709C6CE0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Xử lý ngôn ngữ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AFEFD-96D5-D7F1-DBAA-88AF45C3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Sử dụng mô hình ngôn ngữ nhỏ (SLM)/lớn (LLM)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2E4AA-5E9F-A53B-6F90-C2C4AB2D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F43EB-F02D-E093-DA99-CC483CBB38D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89408" y="1457206"/>
            <a:ext cx="824105" cy="7988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C35078-9895-B6D0-6A40-0FE809C5D930}"/>
              </a:ext>
            </a:extLst>
          </p:cNvPr>
          <p:cNvSpPr txBox="1"/>
          <p:nvPr/>
        </p:nvSpPr>
        <p:spPr>
          <a:xfrm>
            <a:off x="3620948" y="2281672"/>
            <a:ext cx="299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Nhiệm vụ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(tóm tắt, từ khóa, …)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40737DE-A8F3-4365-512D-C8CB23ACDFE3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14717" y="2197521"/>
            <a:ext cx="1620941" cy="1241094"/>
          </a:xfrm>
          <a:prstGeom prst="bentConnector3">
            <a:avLst>
              <a:gd name="adj1" fmla="val 9973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B53598-34C7-EDC5-EAE0-D24ACB694442}"/>
              </a:ext>
            </a:extLst>
          </p:cNvPr>
          <p:cNvSpPr txBox="1"/>
          <p:nvPr/>
        </p:nvSpPr>
        <p:spPr>
          <a:xfrm>
            <a:off x="2863396" y="4006506"/>
            <a:ext cx="12669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Tài liệu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0A4EC8-C76B-F7FD-2190-868D9C7C6EBB}"/>
              </a:ext>
            </a:extLst>
          </p:cNvPr>
          <p:cNvSpPr txBox="1"/>
          <p:nvPr/>
        </p:nvSpPr>
        <p:spPr>
          <a:xfrm>
            <a:off x="6749798" y="3792219"/>
            <a:ext cx="928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E96C3-3E04-4D25-FF10-AC26EB13AB5E}"/>
              </a:ext>
            </a:extLst>
          </p:cNvPr>
          <p:cNvSpPr txBox="1"/>
          <p:nvPr/>
        </p:nvSpPr>
        <p:spPr>
          <a:xfrm>
            <a:off x="4995817" y="3755277"/>
            <a:ext cx="919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973556-A126-D70B-1B48-936E96D2A8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9448" y="3516871"/>
            <a:ext cx="1361283" cy="1361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F7F5F0-E7FB-90F9-96CB-1B9CB844A4C1}"/>
              </a:ext>
            </a:extLst>
          </p:cNvPr>
          <p:cNvSpPr txBox="1"/>
          <p:nvPr/>
        </p:nvSpPr>
        <p:spPr>
          <a:xfrm>
            <a:off x="4269065" y="4798571"/>
            <a:ext cx="2373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Mô hình ngôn ngữ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ACD89-CE96-8376-B859-B8484324B7CC}"/>
              </a:ext>
            </a:extLst>
          </p:cNvPr>
          <p:cNvSpPr txBox="1"/>
          <p:nvPr/>
        </p:nvSpPr>
        <p:spPr>
          <a:xfrm>
            <a:off x="2434394" y="5307504"/>
            <a:ext cx="2373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Mô hình ngôn ngữ nhỏ</a:t>
            </a:r>
          </a:p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BERT, PhoBERT, mT5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490FF3-9A92-A5EA-BFF7-C5C0BD51E33D}"/>
              </a:ext>
            </a:extLst>
          </p:cNvPr>
          <p:cNvSpPr txBox="1"/>
          <p:nvPr/>
        </p:nvSpPr>
        <p:spPr>
          <a:xfrm>
            <a:off x="5455618" y="5284505"/>
            <a:ext cx="2373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Mô hình ngôn ngữ lớn</a:t>
            </a:r>
          </a:p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Gpt-oss, Qwen, </a:t>
            </a:r>
          </a:p>
        </p:txBody>
      </p:sp>
    </p:spTree>
    <p:extLst>
      <p:ext uri="{BB962C8B-B14F-4D97-AF65-F5344CB8AC3E}">
        <p14:creationId xmlns:p14="http://schemas.microsoft.com/office/powerpoint/2010/main" val="217553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FD32-A82E-E514-36D0-61813EBE7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Tóm tắt tài liệu dài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5CFDA-ECED-BBB8-DAC3-103E08896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Số từ trong giới hạn của Mô hình ngôn ngữ: Tóm tắt trực tiếp</a:t>
            </a:r>
          </a:p>
          <a:p>
            <a:r>
              <a:rPr lang="en-US"/>
              <a:t>Vượt giới hạn: Sử dụng Map-Reduce</a:t>
            </a:r>
          </a:p>
          <a:p>
            <a:pPr lvl="1"/>
            <a:r>
              <a:rPr lang="en-US"/>
              <a:t>Chia tài liệu thành các phần</a:t>
            </a:r>
          </a:p>
          <a:p>
            <a:pPr lvl="1"/>
            <a:r>
              <a:rPr lang="en-US"/>
              <a:t>Tóm tắt riêng các phần</a:t>
            </a:r>
          </a:p>
          <a:p>
            <a:pPr lvl="1"/>
            <a:r>
              <a:rPr lang="en-US"/>
              <a:t>Tổng hợp để tạo bản tóm tắt cuối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8BB7A-5AA4-89BA-B289-D8CAFB3D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13555-15B3-220E-FE83-5CD6BF4DE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16" y="2973454"/>
            <a:ext cx="7821633" cy="348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1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A45C-0B25-3747-27FD-05F8CE9E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Dịch và trích xuất thông tin từ tài liệu dài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55A68-A564-7F41-84D3-51ACD64F7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Dịch đa ngôn ngữ</a:t>
            </a:r>
          </a:p>
          <a:p>
            <a:pPr lvl="1"/>
            <a:r>
              <a:rPr lang="en-US"/>
              <a:t>Tách nội dung theo đoạn/ngữ nghĩa</a:t>
            </a:r>
          </a:p>
          <a:p>
            <a:pPr lvl="1"/>
            <a:r>
              <a:rPr lang="en-US"/>
              <a:t>Dịch từng nội dung</a:t>
            </a:r>
          </a:p>
          <a:p>
            <a:r>
              <a:rPr lang="en-US"/>
              <a:t>Trích xuất thông tin quan trọng: Nội dung chính, Xác định từ khóa, ...</a:t>
            </a:r>
          </a:p>
          <a:p>
            <a:pPr lvl="1"/>
            <a:r>
              <a:rPr lang="en-US"/>
              <a:t>Tương tự như tóm tắt văn bản dài</a:t>
            </a:r>
          </a:p>
          <a:p>
            <a:pPr lvl="1"/>
            <a:r>
              <a:rPr lang="en-US"/>
              <a:t>Chia tài liệu thành các phần</a:t>
            </a:r>
          </a:p>
          <a:p>
            <a:pPr lvl="1"/>
            <a:r>
              <a:rPr lang="en-US"/>
              <a:t>Thực hiện riêng để tạo kết quả từng phần</a:t>
            </a:r>
          </a:p>
          <a:p>
            <a:pPr lvl="1"/>
            <a:r>
              <a:rPr lang="en-US"/>
              <a:t>Tổng hợp kết quả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18D69-696E-9CAF-3F81-5D3544BC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7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E6C8-AB48-8A49-7519-A90B8660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Nội dung công việc – tiến độ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4C5C3DF-5959-4EB6-1506-D7FDB87AF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125676"/>
              </p:ext>
            </p:extLst>
          </p:nvPr>
        </p:nvGraphicFramePr>
        <p:xfrm>
          <a:off x="672183" y="1279769"/>
          <a:ext cx="9915606" cy="5200957"/>
        </p:xfrm>
        <a:graphic>
          <a:graphicData uri="http://schemas.openxmlformats.org/drawingml/2006/table">
            <a:tbl>
              <a:tblPr/>
              <a:tblGrid>
                <a:gridCol w="691945">
                  <a:extLst>
                    <a:ext uri="{9D8B030D-6E8A-4147-A177-3AD203B41FA5}">
                      <a16:colId xmlns:a16="http://schemas.microsoft.com/office/drawing/2014/main" val="1114778559"/>
                    </a:ext>
                  </a:extLst>
                </a:gridCol>
                <a:gridCol w="3905041">
                  <a:extLst>
                    <a:ext uri="{9D8B030D-6E8A-4147-A177-3AD203B41FA5}">
                      <a16:colId xmlns:a16="http://schemas.microsoft.com/office/drawing/2014/main" val="3964265371"/>
                    </a:ext>
                  </a:extLst>
                </a:gridCol>
                <a:gridCol w="1781247">
                  <a:extLst>
                    <a:ext uri="{9D8B030D-6E8A-4147-A177-3AD203B41FA5}">
                      <a16:colId xmlns:a16="http://schemas.microsoft.com/office/drawing/2014/main" val="3990543122"/>
                    </a:ext>
                  </a:extLst>
                </a:gridCol>
                <a:gridCol w="1500358">
                  <a:extLst>
                    <a:ext uri="{9D8B030D-6E8A-4147-A177-3AD203B41FA5}">
                      <a16:colId xmlns:a16="http://schemas.microsoft.com/office/drawing/2014/main" val="4107736624"/>
                    </a:ext>
                  </a:extLst>
                </a:gridCol>
                <a:gridCol w="2037015">
                  <a:extLst>
                    <a:ext uri="{9D8B030D-6E8A-4147-A177-3AD203B41FA5}">
                      <a16:colId xmlns:a16="http://schemas.microsoft.com/office/drawing/2014/main" val="351106521"/>
                    </a:ext>
                  </a:extLst>
                </a:gridCol>
              </a:tblGrid>
              <a:tr h="8788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fr-F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Các nội dung, công việc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Kết quả phải đạt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Thời gian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pt-BR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(bắt đầu,</a:t>
                      </a:r>
                      <a:br>
                        <a:rPr lang="pt-BR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pt-BR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kết thúc)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Cá nhân, </a:t>
                      </a:r>
                      <a:b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đơn vị </a:t>
                      </a:r>
                      <a:b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pt-BR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chủ trì*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077331"/>
                  </a:ext>
                </a:extLst>
              </a:tr>
              <a:tr h="2795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(4)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701679"/>
                  </a:ext>
                </a:extLst>
              </a:tr>
              <a:tr h="579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1: Phân tích yêu cầu và khảo sát hệ thống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Báo cáo khảo sát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11/2025-12/2025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Vũ Văn Trường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294330"/>
                  </a:ext>
                </a:extLst>
              </a:tr>
              <a:tr h="33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2 Xây dựng mô-đun OCR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Mô hình OCR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11/2025-01/2026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Phan Thị Hải Hồng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260753"/>
                  </a:ext>
                </a:extLst>
              </a:tr>
              <a:tr h="579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3: Xây dựng mô-đun dịch đa ngôn ngữ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Mô đun phần mềm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12/2025-02/2026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Phan Việt Anh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637538"/>
                  </a:ext>
                </a:extLst>
              </a:tr>
              <a:tr h="579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4: Phát triển mô-đun NLP trích xuất thông tin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Mô đun phần mềm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12/2025-02/2026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Vũ Thị Ly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65163"/>
                  </a:ext>
                </a:extLst>
              </a:tr>
              <a:tr h="579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5: Phát triển ứng dụng và giao diện người dùng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Phần mềm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01/2025-03/2026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Hoàng Trọng Bình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622250"/>
                  </a:ext>
                </a:extLst>
              </a:tr>
              <a:tr h="579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6: Triển khai thử nghiệm và đánh giá hệ thống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Báo cáo triển khai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04/2026-05/2026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Nguyễn Chí Công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993288"/>
                  </a:ext>
                </a:extLst>
              </a:tr>
              <a:tr h="579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Nội dung 7: Hiệu chỉnh, triển khai hệ thống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Báo cáo tổng kết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05/2026-06/2026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Nguyễn Duy Tùng Khánh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8791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68C9-5293-836B-0738-F96AFA81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3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A7C49-87E7-FB93-1442-2B1340C3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9B6F-EE0F-E945-7087-E358C463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3. Sản phẩm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F07B-083A-6943-69F3-E571EA1C2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Hệ thống tự động số hóa và trích xuất thông tin từ học liệu</a:t>
            </a:r>
          </a:p>
          <a:p>
            <a:r>
              <a:rPr lang="en-US"/>
              <a:t>Các yêu cầu khoa học</a:t>
            </a:r>
          </a:p>
          <a:p>
            <a:pPr lvl="1"/>
            <a:r>
              <a:rPr lang="vi-VN"/>
              <a:t>Số hóa tài liệu (OCR): Độ chính xác nhận dạng ký tự ≥ 95% đối với tiếng Việt và Anh. Trên bộ dữ liệu tối thiểu 100 ảnh trang văn bản, chất lượng ảnh tốt, nhìn rõ chữ. </a:t>
            </a:r>
          </a:p>
          <a:p>
            <a:pPr lvl="1"/>
            <a:r>
              <a:rPr lang="vi-VN"/>
              <a:t>Dịch đa ngôn ngữ:</a:t>
            </a:r>
            <a:endParaRPr lang="en-US"/>
          </a:p>
          <a:p>
            <a:pPr lvl="2"/>
            <a:r>
              <a:rPr lang="en-US"/>
              <a:t>N</a:t>
            </a:r>
            <a:r>
              <a:rPr lang="vi-VN"/>
              <a:t>gôn ngữ Anh, Trung, Nga sang tiếng Việt.</a:t>
            </a:r>
            <a:endParaRPr lang="en-US"/>
          </a:p>
          <a:p>
            <a:pPr lvl="2"/>
            <a:r>
              <a:rPr lang="vi-VN"/>
              <a:t>Xuất ra văn bản dạng số. Văn bản dịch đảm bảo ngữ cảnh, chuyên ngành (giáo dục, nghiên cứu khoa học, quân sự).</a:t>
            </a:r>
            <a:endParaRPr lang="en-US"/>
          </a:p>
          <a:p>
            <a:pPr lvl="2"/>
            <a:r>
              <a:rPr lang="vi-VN"/>
              <a:t>Điểm do người đánh giá đạt ≥ 3.5/5 so với người hoặc tương đương các hệ thống dịch tốt nhất trên bộ dữ liệu tối thiểu 100 trang văn bản.</a:t>
            </a:r>
          </a:p>
          <a:p>
            <a:pPr lvl="1"/>
            <a:r>
              <a:rPr lang="vi-VN"/>
              <a:t>Tóm tắt văn bản tiếng Việt có thể điều chỉnh độ dài (ngắn/gọn/chi tiết). Điểm do người đánh giá đạt 3.5/5 so với người thực hiện trên bộ dữ liệu tối thiểu 100 trang văn bản.</a:t>
            </a:r>
          </a:p>
          <a:p>
            <a:pPr lvl="1"/>
            <a:r>
              <a:rPr lang="vi-VN"/>
              <a:t>Trích xuất nội dung chính: Xác định đầy đủ các nội dung chính được đề cập trong tài liệu. Mức độ đầy đủ do người đánh giá đạt 3.5/5 so với người thực hiện trên bộ dữ liệu tối thiểu 100 trang văn bản.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F70A8-DE44-2CA3-6E0D-2949474B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6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8776-72C7-B3A2-E37F-C2891265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5. Kinh phí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413BF-593D-EA8C-FB3B-DBE106BF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C793-D879-4A72-AB4C-25BC676A92D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ADD02F-5891-1535-B880-BB1049EA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07" y="1056908"/>
            <a:ext cx="11246786" cy="47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46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68275-9DBC-047A-0D9F-3435AD77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17E396-E35A-A99B-2D78-EE931FE489D1}"/>
              </a:ext>
            </a:extLst>
          </p:cNvPr>
          <p:cNvSpPr/>
          <p:nvPr/>
        </p:nvSpPr>
        <p:spPr>
          <a:xfrm>
            <a:off x="2994245" y="728594"/>
            <a:ext cx="6539452" cy="4171155"/>
          </a:xfrm>
          <a:prstGeom prst="roundRect">
            <a:avLst>
              <a:gd name="adj" fmla="val 6922"/>
            </a:avLst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0712827-17FA-EB94-EE59-579F3F3A531B}"/>
              </a:ext>
            </a:extLst>
          </p:cNvPr>
          <p:cNvSpPr/>
          <p:nvPr/>
        </p:nvSpPr>
        <p:spPr>
          <a:xfrm>
            <a:off x="3036063" y="759491"/>
            <a:ext cx="3811955" cy="3694609"/>
          </a:xfrm>
          <a:prstGeom prst="roundRect">
            <a:avLst>
              <a:gd name="adj" fmla="val 6922"/>
            </a:avLst>
          </a:prstGeom>
          <a:solidFill>
            <a:schemeClr val="accent6">
              <a:lumMod val="20000"/>
              <a:lumOff val="80000"/>
              <a:alpha val="56000"/>
            </a:schemeClr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0C83C2-503A-11BB-F94B-CC18A911A3E5}"/>
              </a:ext>
            </a:extLst>
          </p:cNvPr>
          <p:cNvSpPr/>
          <p:nvPr/>
        </p:nvSpPr>
        <p:spPr>
          <a:xfrm>
            <a:off x="3346348" y="1624698"/>
            <a:ext cx="1100949" cy="550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Số hóa văn bản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313449-660A-22C3-CCBA-57DC6E84D4E4}"/>
              </a:ext>
            </a:extLst>
          </p:cNvPr>
          <p:cNvSpPr/>
          <p:nvPr/>
        </p:nvSpPr>
        <p:spPr>
          <a:xfrm>
            <a:off x="3323017" y="2507600"/>
            <a:ext cx="862679" cy="5080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Dịch thuật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73B319-8F75-CBD1-1DD1-84806560BFD7}"/>
              </a:ext>
            </a:extLst>
          </p:cNvPr>
          <p:cNvSpPr txBox="1"/>
          <p:nvPr/>
        </p:nvSpPr>
        <p:spPr>
          <a:xfrm>
            <a:off x="3009053" y="4479851"/>
            <a:ext cx="5561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SỐ HÓA &amp; KHAI THÁC THÔNG TIN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A35053D-D1AB-260B-65EE-AE051FFA7397}"/>
              </a:ext>
            </a:extLst>
          </p:cNvPr>
          <p:cNvSpPr/>
          <p:nvPr/>
        </p:nvSpPr>
        <p:spPr>
          <a:xfrm>
            <a:off x="3323017" y="3114480"/>
            <a:ext cx="862679" cy="5246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Tóm tắt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C184AA-67F0-15A1-AB96-80D31FE92314}"/>
              </a:ext>
            </a:extLst>
          </p:cNvPr>
          <p:cNvSpPr/>
          <p:nvPr/>
        </p:nvSpPr>
        <p:spPr>
          <a:xfrm>
            <a:off x="4310686" y="2507600"/>
            <a:ext cx="1350442" cy="508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từ khóa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185A0F2-4325-43EE-EF7E-9E4A047C09F1}"/>
              </a:ext>
            </a:extLst>
          </p:cNvPr>
          <p:cNvSpPr/>
          <p:nvPr/>
        </p:nvSpPr>
        <p:spPr>
          <a:xfrm>
            <a:off x="4310686" y="3108011"/>
            <a:ext cx="1571538" cy="5314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nội dung chính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37DB2E-B016-F57C-953F-C7A0F3F5EF4D}"/>
              </a:ext>
            </a:extLst>
          </p:cNvPr>
          <p:cNvSpPr txBox="1"/>
          <p:nvPr/>
        </p:nvSpPr>
        <p:spPr>
          <a:xfrm>
            <a:off x="5971459" y="2896694"/>
            <a:ext cx="96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KHAI THÁC THÔNG TIN</a:t>
            </a:r>
            <a:endParaRPr lang="en-US" sz="14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B2F19-07F8-8E47-B811-20BAA2C98FC2}"/>
              </a:ext>
            </a:extLst>
          </p:cNvPr>
          <p:cNvSpPr/>
          <p:nvPr/>
        </p:nvSpPr>
        <p:spPr>
          <a:xfrm>
            <a:off x="3176744" y="856693"/>
            <a:ext cx="2804379" cy="1432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4568517-31D6-3134-50A7-9805999E7F3F}"/>
              </a:ext>
            </a:extLst>
          </p:cNvPr>
          <p:cNvSpPr/>
          <p:nvPr/>
        </p:nvSpPr>
        <p:spPr>
          <a:xfrm>
            <a:off x="3163704" y="2428395"/>
            <a:ext cx="2842212" cy="1896314"/>
          </a:xfrm>
          <a:prstGeom prst="roundRect">
            <a:avLst>
              <a:gd name="adj" fmla="val 46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D65ABF4-2252-3DA9-D048-C179BA35BD73}"/>
              </a:ext>
            </a:extLst>
          </p:cNvPr>
          <p:cNvSpPr/>
          <p:nvPr/>
        </p:nvSpPr>
        <p:spPr>
          <a:xfrm>
            <a:off x="7487152" y="810456"/>
            <a:ext cx="1903840" cy="1322043"/>
          </a:xfrm>
          <a:prstGeom prst="roundRect">
            <a:avLst>
              <a:gd name="adj" fmla="val 6922"/>
            </a:avLst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6F10BE5-C4E4-EA42-3DCC-E70AC856FAE4}"/>
              </a:ext>
            </a:extLst>
          </p:cNvPr>
          <p:cNvSpPr/>
          <p:nvPr/>
        </p:nvSpPr>
        <p:spPr>
          <a:xfrm>
            <a:off x="7587625" y="917934"/>
            <a:ext cx="779125" cy="389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2908E59-E859-A730-58B9-2000E784E020}"/>
              </a:ext>
            </a:extLst>
          </p:cNvPr>
          <p:cNvSpPr/>
          <p:nvPr/>
        </p:nvSpPr>
        <p:spPr>
          <a:xfrm>
            <a:off x="7729645" y="1459474"/>
            <a:ext cx="1418854" cy="6015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xử lý ngôn ngữ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C6E7C5-2C80-8E4D-650D-F63E88EA6807}"/>
              </a:ext>
            </a:extLst>
          </p:cNvPr>
          <p:cNvSpPr txBox="1"/>
          <p:nvPr/>
        </p:nvSpPr>
        <p:spPr>
          <a:xfrm>
            <a:off x="7487152" y="2181548"/>
            <a:ext cx="187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NỀN TẢNG AI</a:t>
            </a:r>
          </a:p>
        </p:txBody>
      </p:sp>
      <p:sp>
        <p:nvSpPr>
          <p:cNvPr id="56" name="Flowchart: Magnetic Disk 55">
            <a:extLst>
              <a:ext uri="{FF2B5EF4-FFF2-40B4-BE49-F238E27FC236}">
                <a16:creationId xmlns:a16="http://schemas.microsoft.com/office/drawing/2014/main" id="{FD0F1768-AD3D-E2DD-B669-AA7B1B0D18F3}"/>
              </a:ext>
            </a:extLst>
          </p:cNvPr>
          <p:cNvSpPr/>
          <p:nvPr/>
        </p:nvSpPr>
        <p:spPr>
          <a:xfrm>
            <a:off x="7699089" y="3099193"/>
            <a:ext cx="927879" cy="777766"/>
          </a:xfrm>
          <a:prstGeom prst="flowChartMagneticDisk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CSDL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FEF967-308C-C55E-5047-13169C87E7F4}"/>
              </a:ext>
            </a:extLst>
          </p:cNvPr>
          <p:cNvSpPr/>
          <p:nvPr/>
        </p:nvSpPr>
        <p:spPr>
          <a:xfrm>
            <a:off x="4658445" y="1614240"/>
            <a:ext cx="1187982" cy="5963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văn bản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DFCFB3-9496-10F2-8D5A-CDD3AE345547}"/>
              </a:ext>
            </a:extLst>
          </p:cNvPr>
          <p:cNvSpPr/>
          <p:nvPr/>
        </p:nvSpPr>
        <p:spPr>
          <a:xfrm>
            <a:off x="8499039" y="926443"/>
            <a:ext cx="769808" cy="381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OCR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BEE00A-1C8B-D07E-D682-5732F08FCDB3}"/>
              </a:ext>
            </a:extLst>
          </p:cNvPr>
          <p:cNvSpPr/>
          <p:nvPr/>
        </p:nvSpPr>
        <p:spPr>
          <a:xfrm>
            <a:off x="4616900" y="916500"/>
            <a:ext cx="1271072" cy="5696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văn bản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926691-88D5-BD36-8C8C-38571F151067}"/>
              </a:ext>
            </a:extLst>
          </p:cNvPr>
          <p:cNvSpPr/>
          <p:nvPr/>
        </p:nvSpPr>
        <p:spPr>
          <a:xfrm>
            <a:off x="3330795" y="3756602"/>
            <a:ext cx="862679" cy="503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2A9B28-3C7A-EBEF-1803-0BF99603B320}"/>
              </a:ext>
            </a:extLst>
          </p:cNvPr>
          <p:cNvSpPr/>
          <p:nvPr/>
        </p:nvSpPr>
        <p:spPr>
          <a:xfrm>
            <a:off x="4310686" y="3743148"/>
            <a:ext cx="1350442" cy="511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Hướng nghiên cứu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E3966E-AE47-2721-1264-A120B3BCFCCB}"/>
              </a:ext>
            </a:extLst>
          </p:cNvPr>
          <p:cNvSpPr/>
          <p:nvPr/>
        </p:nvSpPr>
        <p:spPr>
          <a:xfrm>
            <a:off x="3346348" y="916499"/>
            <a:ext cx="1100949" cy="568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Tải files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F1FAA-523A-887E-AE8E-F50186E3664D}"/>
              </a:ext>
            </a:extLst>
          </p:cNvPr>
          <p:cNvSpPr txBox="1"/>
          <p:nvPr/>
        </p:nvSpPr>
        <p:spPr>
          <a:xfrm>
            <a:off x="5882738" y="1214007"/>
            <a:ext cx="965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QUẢN LÝ DỮ LIỆU</a:t>
            </a:r>
            <a:endParaRPr 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F06A10-801B-5B26-DA4B-3D8A8DD7CDCB}"/>
              </a:ext>
            </a:extLst>
          </p:cNvPr>
          <p:cNvSpPr txBox="1"/>
          <p:nvPr/>
        </p:nvSpPr>
        <p:spPr>
          <a:xfrm>
            <a:off x="1370668" y="1516823"/>
            <a:ext cx="102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thư viện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A05174-BD8D-6D79-9E2C-6B5E3700130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3741" y="3721022"/>
            <a:ext cx="594516" cy="75882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DB1E8F-558B-C6E9-7000-3C0C5C0D6C78}"/>
              </a:ext>
            </a:extLst>
          </p:cNvPr>
          <p:cNvSpPr txBox="1"/>
          <p:nvPr/>
        </p:nvSpPr>
        <p:spPr>
          <a:xfrm>
            <a:off x="1323643" y="4402907"/>
            <a:ext cx="1414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quản lý thư viện</a:t>
            </a:r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90158689-D618-87E5-0C40-264A91CCE53C}"/>
              </a:ext>
            </a:extLst>
          </p:cNvPr>
          <p:cNvSpPr/>
          <p:nvPr/>
        </p:nvSpPr>
        <p:spPr>
          <a:xfrm>
            <a:off x="2392615" y="1547003"/>
            <a:ext cx="582316" cy="232823"/>
          </a:xfrm>
          <a:prstGeom prst="leftRightArrow">
            <a:avLst>
              <a:gd name="adj1" fmla="val 43819"/>
              <a:gd name="adj2" fmla="val 809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93936ABC-BBD3-3703-B41B-A0DB4025A318}"/>
              </a:ext>
            </a:extLst>
          </p:cNvPr>
          <p:cNvSpPr/>
          <p:nvPr/>
        </p:nvSpPr>
        <p:spPr>
          <a:xfrm>
            <a:off x="2369753" y="3350741"/>
            <a:ext cx="582316" cy="232823"/>
          </a:xfrm>
          <a:prstGeom prst="leftRightArrow">
            <a:avLst>
              <a:gd name="adj1" fmla="val 43819"/>
              <a:gd name="adj2" fmla="val 809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9989C094-F6A7-3848-D3B9-8AEC8D8F59B8}"/>
              </a:ext>
            </a:extLst>
          </p:cNvPr>
          <p:cNvSpPr/>
          <p:nvPr/>
        </p:nvSpPr>
        <p:spPr>
          <a:xfrm>
            <a:off x="6857138" y="1400412"/>
            <a:ext cx="582316" cy="232823"/>
          </a:xfrm>
          <a:prstGeom prst="leftRightArrow">
            <a:avLst>
              <a:gd name="adj1" fmla="val 43819"/>
              <a:gd name="adj2" fmla="val 809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8B46424A-4885-B455-9A4E-1CD9B1716AD2}"/>
              </a:ext>
            </a:extLst>
          </p:cNvPr>
          <p:cNvSpPr/>
          <p:nvPr/>
        </p:nvSpPr>
        <p:spPr>
          <a:xfrm>
            <a:off x="6955912" y="3416076"/>
            <a:ext cx="582316" cy="232823"/>
          </a:xfrm>
          <a:prstGeom prst="leftRightArrow">
            <a:avLst>
              <a:gd name="adj1" fmla="val 43819"/>
              <a:gd name="adj2" fmla="val 809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C7C15AF-1BFB-66BF-E8C7-D9EC9F49044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79775" y="3891223"/>
            <a:ext cx="684211" cy="873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E2C3D-B3EC-5AC3-ECD4-F3DE2BD01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741" y="2262746"/>
            <a:ext cx="650069" cy="6301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BCE3A4-F3EF-0C00-2B47-26D102FA76B7}"/>
              </a:ext>
            </a:extLst>
          </p:cNvPr>
          <p:cNvSpPr txBox="1"/>
          <p:nvPr/>
        </p:nvSpPr>
        <p:spPr>
          <a:xfrm>
            <a:off x="1249334" y="2892856"/>
            <a:ext cx="118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Cán bộ, giáo viên</a:t>
            </a:r>
          </a:p>
        </p:txBody>
      </p:sp>
      <p:pic>
        <p:nvPicPr>
          <p:cNvPr id="11" name="Picture 4" descr="Database Administration Icon PNG Images, Vectors Free Download - Pngtree">
            <a:extLst>
              <a:ext uri="{FF2B5EF4-FFF2-40B4-BE49-F238E27FC236}">
                <a16:creationId xmlns:a16="http://schemas.microsoft.com/office/drawing/2014/main" id="{5D027DD8-E6F6-DF31-1687-7AEF0F8CD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1" t="13636" r="17172" b="25152"/>
          <a:stretch/>
        </p:blipFill>
        <p:spPr bwMode="auto">
          <a:xfrm>
            <a:off x="1666268" y="936499"/>
            <a:ext cx="655838" cy="61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78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eb Server PNG Transparent, Web Server Vector Icon, Web Icons, Server Icons,  Computer PNG Image For Free Download">
            <a:extLst>
              <a:ext uri="{FF2B5EF4-FFF2-40B4-BE49-F238E27FC236}">
                <a16:creationId xmlns:a16="http://schemas.microsoft.com/office/drawing/2014/main" id="{F6B594FA-7E9D-4165-A0B9-4B93002A8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0" t="9889" r="25633" b="8508"/>
          <a:stretch/>
        </p:blipFill>
        <p:spPr bwMode="auto">
          <a:xfrm>
            <a:off x="7000045" y="2000581"/>
            <a:ext cx="914961" cy="158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B9C39A-F690-424E-913A-9306E589B8BE}"/>
              </a:ext>
            </a:extLst>
          </p:cNvPr>
          <p:cNvSpPr txBox="1"/>
          <p:nvPr/>
        </p:nvSpPr>
        <p:spPr>
          <a:xfrm>
            <a:off x="6894247" y="3564373"/>
            <a:ext cx="148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Máy chủ 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D24F0-8DB2-4F0A-AF2B-5048CB121843}"/>
              </a:ext>
            </a:extLst>
          </p:cNvPr>
          <p:cNvSpPr txBox="1"/>
          <p:nvPr/>
        </p:nvSpPr>
        <p:spPr>
          <a:xfrm>
            <a:off x="5806793" y="4330487"/>
            <a:ext cx="2387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Máy chủ CSDL Hệ thống quản lý thư viện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6E2B8C-0DCB-4878-91EF-71A514F629E5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5371450" y="3409432"/>
            <a:ext cx="9447" cy="71001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69BF2E-B5FE-40B8-BB5A-EB0420430B5B}"/>
              </a:ext>
            </a:extLst>
          </p:cNvPr>
          <p:cNvCxnSpPr>
            <a:cxnSpLocks/>
            <a:stCxn id="8" idx="6"/>
            <a:endCxn id="1026" idx="1"/>
          </p:cNvCxnSpPr>
          <p:nvPr/>
        </p:nvCxnSpPr>
        <p:spPr>
          <a:xfrm>
            <a:off x="6044112" y="2791476"/>
            <a:ext cx="955933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Database Administration Icon PNG Images, Vectors Free Download - Pngtree">
            <a:extLst>
              <a:ext uri="{FF2B5EF4-FFF2-40B4-BE49-F238E27FC236}">
                <a16:creationId xmlns:a16="http://schemas.microsoft.com/office/drawing/2014/main" id="{45142D2A-EB26-C1D6-B132-410AD1E7C0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1" t="13636" r="17172" b="25152"/>
          <a:stretch/>
        </p:blipFill>
        <p:spPr bwMode="auto">
          <a:xfrm>
            <a:off x="2059214" y="3270154"/>
            <a:ext cx="906650" cy="84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C3959D-D9BA-4207-B0D0-5573FDEA1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631" y="1495477"/>
            <a:ext cx="1173233" cy="1137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A90EA2-8CC9-9CCD-EE63-5DB30BEC54C1}"/>
              </a:ext>
            </a:extLst>
          </p:cNvPr>
          <p:cNvSpPr txBox="1"/>
          <p:nvPr/>
        </p:nvSpPr>
        <p:spPr>
          <a:xfrm>
            <a:off x="1812636" y="4158745"/>
            <a:ext cx="1399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thư viện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05705-FB3F-257E-2C37-0A5FADDE3EA9}"/>
              </a:ext>
            </a:extLst>
          </p:cNvPr>
          <p:cNvSpPr txBox="1"/>
          <p:nvPr/>
        </p:nvSpPr>
        <p:spPr>
          <a:xfrm>
            <a:off x="1612273" y="2606810"/>
            <a:ext cx="191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Cán bộ, giáo viên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8077C-0C1D-3625-C1B5-581959BC946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5000" y="4119446"/>
            <a:ext cx="851793" cy="108721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2F1BB13-3EE7-C2FD-AAC5-86FDD4DD6870}"/>
              </a:ext>
            </a:extLst>
          </p:cNvPr>
          <p:cNvSpPr/>
          <p:nvPr/>
        </p:nvSpPr>
        <p:spPr>
          <a:xfrm>
            <a:off x="4698788" y="2173520"/>
            <a:ext cx="1345324" cy="1235912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 nội bộ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FDA20-AF60-E072-1524-647EC263C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52" y="2820262"/>
            <a:ext cx="744111" cy="744111"/>
          </a:xfrm>
          <a:prstGeom prst="rect">
            <a:avLst/>
          </a:prstGeom>
        </p:spPr>
      </p:pic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7013E791-76DB-4DF5-B98C-F62CB3F146C8}"/>
              </a:ext>
            </a:extLst>
          </p:cNvPr>
          <p:cNvSpPr/>
          <p:nvPr/>
        </p:nvSpPr>
        <p:spPr>
          <a:xfrm>
            <a:off x="3531133" y="2665447"/>
            <a:ext cx="1053879" cy="344490"/>
          </a:xfrm>
          <a:prstGeom prst="leftRightArrow">
            <a:avLst>
              <a:gd name="adj1" fmla="val 57477"/>
              <a:gd name="adj2" fmla="val 50000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94458D-CF0F-09B9-9FCC-3B38812B2E7C}"/>
              </a:ext>
            </a:extLst>
          </p:cNvPr>
          <p:cNvSpPr/>
          <p:nvPr/>
        </p:nvSpPr>
        <p:spPr>
          <a:xfrm>
            <a:off x="4198513" y="1880315"/>
            <a:ext cx="4177549" cy="205339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16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76533</TotalTime>
  <Words>1000</Words>
  <Application>Microsoft Office PowerPoint</Application>
  <PresentationFormat>Widescreen</PresentationFormat>
  <Paragraphs>165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.VnTime</vt:lpstr>
      <vt:lpstr>Arial</vt:lpstr>
      <vt:lpstr>Calibri</vt:lpstr>
      <vt:lpstr>Times New Roman</vt:lpstr>
      <vt:lpstr>Office Theme</vt:lpstr>
      <vt:lpstr>NGHIÊN CỨU ỨNG DỤNG AI HỖ TRỢ TỰ ĐỘNG DỊCH VÀ TỔNG THUẬT HỌC LIỆU SỐ</vt:lpstr>
      <vt:lpstr>Nội dung</vt:lpstr>
      <vt:lpstr>1. Mục tiêu</vt:lpstr>
      <vt:lpstr>2. Nội dung nghiên cứu</vt:lpstr>
      <vt:lpstr>Tải &amp; quản lý files</vt:lpstr>
      <vt:lpstr>Nhận dạng ký tự quang học (OCR)</vt:lpstr>
      <vt:lpstr>Xử lý ngôn ngữ</vt:lpstr>
      <vt:lpstr>Tóm tắt tài liệu dài</vt:lpstr>
      <vt:lpstr>Dịch và trích xuất thông tin từ tài liệu dài</vt:lpstr>
      <vt:lpstr>Nội dung công việc – tiến độ</vt:lpstr>
      <vt:lpstr>3. Sản phẩm đề tài</vt:lpstr>
      <vt:lpstr>5. Kinh phí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Do Van</dc:creator>
  <cp:lastModifiedBy>Anh Phan</cp:lastModifiedBy>
  <cp:revision>2086</cp:revision>
  <cp:lastPrinted>2020-07-08T01:30:51Z</cp:lastPrinted>
  <dcterms:created xsi:type="dcterms:W3CDTF">2018-08-08T14:52:13Z</dcterms:created>
  <dcterms:modified xsi:type="dcterms:W3CDTF">2025-10-19T17:23:38Z</dcterms:modified>
</cp:coreProperties>
</file>